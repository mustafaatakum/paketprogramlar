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36592"/>
            <a:ext cx="12188952" cy="109728"/>
          </a:xfrm>
          <a:prstGeom prst="rect">
            <a:avLst/>
          </a:prstGeom>
          <a:solidFill>
            <a:srgbClr val="1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2C878"/>
                </a:solidFill>
              </a:defRPr>
            </a:pPr>
            <a:r>
              <a:t>ANİMASYON TEKNİKLERİ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96DCB4"/>
                </a:solidFill>
              </a:defRPr>
            </a:pPr>
            <a:r>
              <a:t>PowerPoint'te Nesnelere Hayat Verin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AA82"/>
                </a:solidFill>
              </a:defRPr>
            </a:pPr>
            <a:r>
              <a:t>Giriş • Vurgu • Çıkış • Hareket Yolu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4 ANİMASYON KATEGORİSİ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5760720" cy="1737360"/>
          </a:xfrm>
          <a:prstGeom prst="rect">
            <a:avLst/>
          </a:prstGeom>
          <a:solidFill>
            <a:srgbClr val="1A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0515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🔵 GİRİŞ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6E6"/>
                </a:solidFill>
              </a:defRPr>
            </a:pPr>
            <a:r>
              <a:t>Nesne slayta gelirken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C8D7C8"/>
                </a:solidFill>
              </a:defRPr>
            </a:pPr>
            <a:r>
              <a:t>Ör: Belirme, Uçma, Büyüme, Döndür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960120"/>
            <a:ext cx="5760720" cy="173736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515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🔴 VURGU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6E6"/>
                </a:solidFill>
              </a:defRPr>
            </a:pPr>
            <a:r>
              <a:t>Slayttayken dikkat çekme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C8D7C8"/>
                </a:solidFill>
              </a:defRPr>
            </a:pPr>
            <a:r>
              <a:t>Ör: Sallama, Titreme, Renk Dalgası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834639"/>
            <a:ext cx="5760720" cy="1737360"/>
          </a:xfrm>
          <a:prstGeom prst="rect">
            <a:avLst/>
          </a:prstGeom>
          <a:solidFill>
            <a:srgbClr val="643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926079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🟣 ÇIKIŞ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42899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6E6"/>
                </a:solidFill>
              </a:defRPr>
            </a:pPr>
            <a:r>
              <a:t>Slayttan çıkarken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79475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C8D7C8"/>
                </a:solidFill>
              </a:defRPr>
            </a:pPr>
            <a:r>
              <a:t>Ör: Kaybolma, Küçülme, Sönme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834639"/>
            <a:ext cx="5760720" cy="1737360"/>
          </a:xfrm>
          <a:prstGeom prst="rect">
            <a:avLst/>
          </a:prstGeom>
          <a:solidFill>
            <a:srgbClr val="14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79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🟢 HAREKET YOLU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2899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6E6"/>
                </a:solidFill>
              </a:defRPr>
            </a:pPr>
            <a:r>
              <a:t>Belirli rotada hareket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9475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C8D7C8"/>
                </a:solidFill>
              </a:defRPr>
            </a:pPr>
            <a:r>
              <a:t>Ör: Düz, Kavisli, Döngü, Özel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ANİMASYON EKLEME REHBERİ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594360" cy="105156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5272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960120"/>
            <a:ext cx="5074920" cy="1051560"/>
          </a:xfrm>
          <a:prstGeom prst="rect">
            <a:avLst/>
          </a:prstGeom>
          <a:solidFill>
            <a:srgbClr val="FCF7F4"/>
          </a:solidFill>
          <a:ln w="6350">
            <a:solidFill>
              <a:srgbClr val="D2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7" y="103327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5451B"/>
                </a:solidFill>
              </a:defRPr>
            </a:pPr>
            <a:r>
              <a:t>Nesneyi Seç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7" y="149047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321E"/>
                </a:solidFill>
              </a:defRPr>
            </a:pPr>
            <a:r>
              <a:t>Animasyon uygulanacak şekil, metin veya resmi seçin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960120"/>
            <a:ext cx="594360" cy="105156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25272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960120"/>
            <a:ext cx="5074920" cy="1051560"/>
          </a:xfrm>
          <a:prstGeom prst="rect">
            <a:avLst/>
          </a:prstGeom>
          <a:solidFill>
            <a:srgbClr val="FCF7F4"/>
          </a:solidFill>
          <a:ln w="6350">
            <a:solidFill>
              <a:srgbClr val="D2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13448" y="103327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5451B"/>
                </a:solidFill>
              </a:defRPr>
            </a:pPr>
            <a:r>
              <a:t>Animasyon Sekmesi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149047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321E"/>
                </a:solidFill>
              </a:defRPr>
            </a:pPr>
            <a:r>
              <a:t>Üst şeritten 'Animasyon' sekmesine tıklayın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94560"/>
            <a:ext cx="594360" cy="105156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48716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194560"/>
            <a:ext cx="5074920" cy="1051560"/>
          </a:xfrm>
          <a:prstGeom prst="rect">
            <a:avLst/>
          </a:prstGeom>
          <a:solidFill>
            <a:srgbClr val="FCF7F4"/>
          </a:solidFill>
          <a:ln w="6350">
            <a:solidFill>
              <a:srgbClr val="D2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7" y="22677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5451B"/>
                </a:solidFill>
              </a:defRPr>
            </a:pPr>
            <a:r>
              <a:t>Efekt Seç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7" y="27249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321E"/>
                </a:solidFill>
              </a:defRPr>
            </a:pPr>
            <a:r>
              <a:t>Animasyon galerisinden istediğiniz efekti seçin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194560"/>
            <a:ext cx="594360" cy="105156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48716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2194560"/>
            <a:ext cx="5074920" cy="1051560"/>
          </a:xfrm>
          <a:prstGeom prst="rect">
            <a:avLst/>
          </a:prstGeom>
          <a:solidFill>
            <a:srgbClr val="FCF7F4"/>
          </a:solidFill>
          <a:ln w="6350">
            <a:solidFill>
              <a:srgbClr val="D2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13448" y="22677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5451B"/>
                </a:solidFill>
              </a:defRPr>
            </a:pPr>
            <a:r>
              <a:t>Efekt Seçenekleri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27249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321E"/>
                </a:solidFill>
              </a:defRPr>
            </a:pPr>
            <a:r>
              <a:t>Yön, hız ve diğer ayarları düzenleyin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429000"/>
            <a:ext cx="594360" cy="105156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72160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3429000"/>
            <a:ext cx="5074920" cy="1051560"/>
          </a:xfrm>
          <a:prstGeom prst="rect">
            <a:avLst/>
          </a:prstGeom>
          <a:solidFill>
            <a:srgbClr val="FCF7F4"/>
          </a:solidFill>
          <a:ln w="6350">
            <a:solidFill>
              <a:srgbClr val="D2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7" y="35021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5451B"/>
                </a:solidFill>
              </a:defRPr>
            </a:pPr>
            <a:r>
              <a:t>Zamanlama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7" y="39593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321E"/>
                </a:solidFill>
              </a:defRPr>
            </a:pPr>
            <a:r>
              <a:t>Başlangıç: Tıklamada / Öncekiyle / Sonra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429000"/>
            <a:ext cx="594360" cy="105156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372160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03720" y="3429000"/>
            <a:ext cx="5074920" cy="1051560"/>
          </a:xfrm>
          <a:prstGeom prst="rect">
            <a:avLst/>
          </a:prstGeom>
          <a:solidFill>
            <a:srgbClr val="FCF7F4"/>
          </a:solidFill>
          <a:ln w="6350">
            <a:solidFill>
              <a:srgbClr val="D2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13448" y="35021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5451B"/>
                </a:solidFill>
              </a:defRPr>
            </a:pPr>
            <a:r>
              <a:t>Önizle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13448" y="39593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321E"/>
                </a:solidFill>
              </a:defRPr>
            </a:pPr>
            <a:r>
              <a:t>Animasyon → Önizle ile test edin</a:t>
            </a:r>
          </a:p>
        </p:txBody>
      </p:sp>
    </p:spTree>
  </p:cSld>
  <p:clrMapOvr>
    <a:masterClrMapping/>
  </p:clrMapOvr>
  <p:transition spd="med" advClick="1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ANİMASYON BÖLMESİ VE ZAMANLAMA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5486400" cy="3383280"/>
          </a:xfrm>
          <a:prstGeom prst="rect">
            <a:avLst/>
          </a:prstGeom>
          <a:solidFill>
            <a:srgbClr val="F0FAF4"/>
          </a:solidFill>
          <a:ln w="6350">
            <a:solidFill>
              <a:srgbClr val="B4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44628"/>
                </a:solidFill>
              </a:defRPr>
            </a:pPr>
            <a:r>
              <a:t>📋  ANİMASYON BÖLMESİ</a:t>
            </a:r>
          </a:p>
          <a:p>
            <a:pPr algn="l">
              <a:defRPr sz="1200" b="0">
                <a:solidFill>
                  <a:srgbClr val="144628"/>
                </a:solidFill>
              </a:defRPr>
            </a:pPr>
          </a:p>
          <a:p>
            <a:pPr algn="l">
              <a:defRPr sz="1200" b="0">
                <a:solidFill>
                  <a:srgbClr val="144628"/>
                </a:solidFill>
              </a:defRPr>
            </a:pPr>
            <a:r>
              <a:t>Animasyon → Animasyon Bölmesi</a:t>
            </a:r>
          </a:p>
          <a:p>
            <a:pPr algn="l">
              <a:defRPr sz="1200" b="0">
                <a:solidFill>
                  <a:srgbClr val="144628"/>
                </a:solidFill>
              </a:defRPr>
            </a:pPr>
          </a:p>
          <a:p>
            <a:pPr algn="l">
              <a:defRPr sz="1200" b="0">
                <a:solidFill>
                  <a:srgbClr val="144628"/>
                </a:solidFill>
              </a:defRPr>
            </a:pPr>
            <a:r>
              <a:t>• Her animasyon listede sırayla görünür</a:t>
            </a:r>
          </a:p>
          <a:p>
            <a:pPr algn="l">
              <a:defRPr sz="1200" b="0">
                <a:solidFill>
                  <a:srgbClr val="144628"/>
                </a:solidFill>
              </a:defRPr>
            </a:pPr>
            <a:r>
              <a:t>• Sırayı sürükle-bırak ile değiştirin</a:t>
            </a:r>
          </a:p>
          <a:p>
            <a:pPr algn="l">
              <a:defRPr sz="1200" b="0">
                <a:solidFill>
                  <a:srgbClr val="144628"/>
                </a:solidFill>
              </a:defRPr>
            </a:pPr>
            <a:r>
              <a:t>• Sağ tık → Efekti Düzenle → gelişmiş</a:t>
            </a:r>
          </a:p>
          <a:p>
            <a:pPr algn="l">
              <a:defRPr sz="1200" b="0">
                <a:solidFill>
                  <a:srgbClr val="144628"/>
                </a:solidFill>
              </a:defRPr>
            </a:pPr>
            <a:r>
              <a:t>• Süre çubuğunu sürükleyerek zamanlama</a:t>
            </a:r>
          </a:p>
          <a:p>
            <a:pPr algn="l">
              <a:defRPr sz="1200" b="0">
                <a:solidFill>
                  <a:srgbClr val="144628"/>
                </a:solidFill>
              </a:defRPr>
            </a:pPr>
            <a:r>
              <a:t>• Bir anda birden fazla efekt başlatın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960120"/>
            <a:ext cx="5760720" cy="3383280"/>
          </a:xfrm>
          <a:prstGeom prst="rect">
            <a:avLst/>
          </a:prstGeom>
          <a:solidFill>
            <a:srgbClr val="FFF8F0"/>
          </a:solidFill>
          <a:ln w="635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0515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3214"/>
                </a:solidFill>
              </a:defRPr>
            </a:pPr>
            <a:r>
              <a:t>⏱️  ZAMANLAMA İPUÇLARI</a:t>
            </a:r>
          </a:p>
          <a:p>
            <a:pPr algn="l">
              <a:defRPr sz="1200" b="0">
                <a:solidFill>
                  <a:srgbClr val="503214"/>
                </a:solidFill>
              </a:defRPr>
            </a:pPr>
          </a:p>
          <a:p>
            <a:pPr algn="l">
              <a:defRPr sz="1200" b="0">
                <a:solidFill>
                  <a:srgbClr val="503214"/>
                </a:solidFill>
              </a:defRPr>
            </a:pPr>
            <a:r>
              <a:t>Başlangıç seçenekleri:</a:t>
            </a:r>
          </a:p>
          <a:p>
            <a:pPr algn="l">
              <a:defRPr sz="1200" b="0">
                <a:solidFill>
                  <a:srgbClr val="503214"/>
                </a:solidFill>
              </a:defRPr>
            </a:pPr>
            <a:r>
              <a:t>• 'Tıklamada' → klik bekler</a:t>
            </a:r>
          </a:p>
          <a:p>
            <a:pPr algn="l">
              <a:defRPr sz="1200" b="0">
                <a:solidFill>
                  <a:srgbClr val="503214"/>
                </a:solidFill>
              </a:defRPr>
            </a:pPr>
            <a:r>
              <a:t>• 'Öncekiyle' → aynı anda başlar</a:t>
            </a:r>
          </a:p>
          <a:p>
            <a:pPr algn="l">
              <a:defRPr sz="1200" b="0">
                <a:solidFill>
                  <a:srgbClr val="503214"/>
                </a:solidFill>
              </a:defRPr>
            </a:pPr>
            <a:r>
              <a:t>• 'Sonra' → önceki bitince başlar</a:t>
            </a:r>
          </a:p>
          <a:p>
            <a:pPr algn="l">
              <a:defRPr sz="1200" b="0">
                <a:solidFill>
                  <a:srgbClr val="503214"/>
                </a:solidFill>
              </a:defRPr>
            </a:pPr>
          </a:p>
          <a:p>
            <a:pPr algn="l">
              <a:defRPr sz="1200" b="0">
                <a:solidFill>
                  <a:srgbClr val="503214"/>
                </a:solidFill>
              </a:defRPr>
            </a:pPr>
            <a:r>
              <a:t>Süre: 0.25 → 5 saniye</a:t>
            </a:r>
          </a:p>
          <a:p>
            <a:pPr algn="l">
              <a:defRPr sz="1200" b="0">
                <a:solidFill>
                  <a:srgbClr val="503214"/>
                </a:solidFill>
              </a:defRPr>
            </a:pPr>
            <a:r>
              <a:t>Gecikme: her efekte ayrı gecikme</a:t>
            </a:r>
          </a:p>
          <a:p>
            <a:pPr algn="l">
              <a:defRPr sz="1200" b="0">
                <a:solidFill>
                  <a:srgbClr val="503214"/>
                </a:solidFill>
              </a:defRPr>
            </a:pPr>
            <a:r>
              <a:t>Tekrar: 1, 2, ... veya Sonsuz</a:t>
            </a:r>
          </a:p>
        </p:txBody>
      </p:sp>
    </p:spTree>
  </p:cSld>
  <p:clrMapOvr>
    <a:masterClrMapping/>
  </p:clrMapOvr>
  <p:transition spd="med" advClick="1"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2C878"/>
                </a:solidFill>
              </a:defRPr>
            </a:pPr>
            <a:r>
              <a:t>UYGULAMA ÖRNEĞİ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6128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5638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Nesne</a:t>
                      </a:r>
                    </a:p>
                  </a:txBody>
                  <a:tcPr>
                    <a:solidFill>
                      <a:srgbClr val="1F7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Animasyon Efekti</a:t>
                      </a:r>
                    </a:p>
                  </a:txBody>
                  <a:tcPr>
                    <a:solidFill>
                      <a:srgbClr val="1F7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Başlangıç</a:t>
                      </a:r>
                    </a:p>
                  </a:txBody>
                  <a:tcPr>
                    <a:solidFill>
                      <a:srgbClr val="1F7A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Süre</a:t>
                      </a:r>
                    </a:p>
                  </a:txBody>
                  <a:tcPr>
                    <a:solidFill>
                      <a:srgbClr val="1F7A4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Başlık metni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Belirme (Fade)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Tıklamada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1.0 sn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Madde listesi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Uçma (Fly 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Sonra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0.5 sn (her madde)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Resim/Şekil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Büyüme ve Dönme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Öncekiyle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0.75 sn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Grafik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Çekme (Wipe)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Tıklamada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1.0 sn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Alt başlık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Yakınlaştırma (Zoom)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Öncekiyle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0.5 sn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 advClick="1"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